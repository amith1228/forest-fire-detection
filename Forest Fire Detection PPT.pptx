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media/image1.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media/image2.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2CD"/>
          </a:solidFill>
        </a:fill>
      </a:tcStyle>
    </a:wholeTbl>
    <a:band2H>
      <a:tcTxStyle b="def" i="def"/>
      <a:tcStyle>
        <a:tcBdr/>
        <a:fill>
          <a:solidFill>
            <a:srgbClr val="FF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b="def" i="def"/>
      <a:tcStyle>
        <a:tcBdr/>
        <a:fill>
          <a:solidFill>
            <a:srgbClr val="EBEEE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b="def" i="def"/>
      <a:tcStyle>
        <a:tcBdr/>
        <a:fill>
          <a:solidFill>
            <a:srgbClr val="FCFF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58" name="Shape 58"/>
          <p:cNvSpPr/>
          <p:nvPr>
            <p:ph type="sldImg"/>
          </p:nvPr>
        </p:nvSpPr>
        <p:spPr>
          <a:xfrm>
            <a:off x="1143000" y="685800"/>
            <a:ext cx="4572000" cy="3429000"/>
          </a:xfrm>
          <a:prstGeom prst="rect">
            <a:avLst/>
          </a:prstGeom>
        </p:spPr>
        <p:txBody>
          <a:bodyPr/>
          <a:lstStyle/>
          <a:p>
            <a:pPr/>
          </a:p>
        </p:txBody>
      </p:sp>
      <p:sp>
        <p:nvSpPr>
          <p:cNvPr id="59" name="Shape 5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Arial"/>
      </a:defRPr>
    </a:lvl1pPr>
    <a:lvl2pPr indent="228600" latinLnBrk="0">
      <a:defRPr sz="1200">
        <a:latin typeface="+mn-lt"/>
        <a:ea typeface="+mn-ea"/>
        <a:cs typeface="+mn-cs"/>
        <a:sym typeface="Arial"/>
      </a:defRPr>
    </a:lvl2pPr>
    <a:lvl3pPr indent="457200" latinLnBrk="0">
      <a:defRPr sz="1200">
        <a:latin typeface="+mn-lt"/>
        <a:ea typeface="+mn-ea"/>
        <a:cs typeface="+mn-cs"/>
        <a:sym typeface="Arial"/>
      </a:defRPr>
    </a:lvl3pPr>
    <a:lvl4pPr indent="685800" latinLnBrk="0">
      <a:defRPr sz="1200">
        <a:latin typeface="+mn-lt"/>
        <a:ea typeface="+mn-ea"/>
        <a:cs typeface="+mn-cs"/>
        <a:sym typeface="Arial"/>
      </a:defRPr>
    </a:lvl4pPr>
    <a:lvl5pPr indent="914400" latinLnBrk="0">
      <a:defRPr sz="1200">
        <a:latin typeface="+mn-lt"/>
        <a:ea typeface="+mn-ea"/>
        <a:cs typeface="+mn-cs"/>
        <a:sym typeface="Arial"/>
      </a:defRPr>
    </a:lvl5pPr>
    <a:lvl6pPr indent="1143000" latinLnBrk="0">
      <a:defRPr sz="1200">
        <a:latin typeface="+mn-lt"/>
        <a:ea typeface="+mn-ea"/>
        <a:cs typeface="+mn-cs"/>
        <a:sym typeface="Arial"/>
      </a:defRPr>
    </a:lvl6pPr>
    <a:lvl7pPr indent="1371600" latinLnBrk="0">
      <a:defRPr sz="1200">
        <a:latin typeface="+mn-lt"/>
        <a:ea typeface="+mn-ea"/>
        <a:cs typeface="+mn-cs"/>
        <a:sym typeface="Arial"/>
      </a:defRPr>
    </a:lvl7pPr>
    <a:lvl8pPr indent="1600200" latinLnBrk="0">
      <a:defRPr sz="1200">
        <a:latin typeface="+mn-lt"/>
        <a:ea typeface="+mn-ea"/>
        <a:cs typeface="+mn-cs"/>
        <a:sym typeface="Arial"/>
      </a:defRPr>
    </a:lvl8pPr>
    <a:lvl9pPr indent="1828800" latinLnBrk="0">
      <a:defRPr sz="1200">
        <a:latin typeface="+mn-lt"/>
        <a:ea typeface="+mn-ea"/>
        <a:cs typeface="+mn-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jpe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jpe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jpe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ontent">
    <p:spTree>
      <p:nvGrpSpPr>
        <p:cNvPr id="1" name=""/>
        <p:cNvGrpSpPr/>
        <p:nvPr/>
      </p:nvGrpSpPr>
      <p:grpSpPr>
        <a:xfrm>
          <a:off x="0" y="0"/>
          <a:ext cx="0" cy="0"/>
          <a:chOff x="0" y="0"/>
          <a:chExt cx="0" cy="0"/>
        </a:xfrm>
      </p:grpSpPr>
      <p:pic>
        <p:nvPicPr>
          <p:cNvPr id="23" name="Google Shape;110;p4" descr="Google Shape;110;p4"/>
          <p:cNvPicPr>
            <a:picLocks noChangeAspect="1"/>
          </p:cNvPicPr>
          <p:nvPr/>
        </p:nvPicPr>
        <p:blipFill>
          <a:blip r:embed="rId2">
            <a:extLst/>
          </a:blip>
          <a:stretch>
            <a:fillRect/>
          </a:stretch>
        </p:blipFill>
        <p:spPr>
          <a:xfrm>
            <a:off x="10072688" y="78001"/>
            <a:ext cx="1800226" cy="575515"/>
          </a:xfrm>
          <a:prstGeom prst="rect">
            <a:avLst/>
          </a:prstGeom>
          <a:ln w="12700">
            <a:miter lim="400000"/>
          </a:ln>
        </p:spPr>
      </p:pic>
      <p:sp>
        <p:nvSpPr>
          <p:cNvPr id="24" name="Rectangle 14"/>
          <p:cNvSpPr/>
          <p:nvPr/>
        </p:nvSpPr>
        <p:spPr>
          <a:xfrm>
            <a:off x="1" y="-1"/>
            <a:ext cx="9829801" cy="717632"/>
          </a:xfrm>
          <a:prstGeom prst="rect">
            <a:avLst/>
          </a:prstGeom>
          <a:solidFill>
            <a:srgbClr val="213264"/>
          </a:solidFill>
          <a:ln w="25400">
            <a:solidFill>
              <a:srgbClr val="213264"/>
            </a:solidFill>
          </a:ln>
        </p:spPr>
        <p:txBody>
          <a:bodyPr lIns="45719" rIns="45719" anchor="ctr"/>
          <a:lstStyle/>
          <a:p>
            <a:pPr algn="ctr">
              <a:defRPr>
                <a:solidFill>
                  <a:srgbClr val="FFFFFF"/>
                </a:solidFill>
              </a:defRPr>
            </a:pPr>
          </a:p>
        </p:txBody>
      </p:sp>
      <p:sp>
        <p:nvSpPr>
          <p:cNvPr id="25" name="Rectangle 18"/>
          <p:cNvSpPr/>
          <p:nvPr/>
        </p:nvSpPr>
        <p:spPr>
          <a:xfrm>
            <a:off x="9888966" y="-419"/>
            <a:ext cx="112284" cy="732357"/>
          </a:xfrm>
          <a:prstGeom prst="rect">
            <a:avLst/>
          </a:prstGeom>
          <a:solidFill>
            <a:srgbClr val="7FBA00"/>
          </a:solidFill>
          <a:ln w="12700">
            <a:miter lim="400000"/>
          </a:ln>
        </p:spPr>
        <p:txBody>
          <a:bodyPr lIns="45719" rIns="45719" anchor="ctr"/>
          <a:lstStyle/>
          <a:p>
            <a:pPr algn="ctr">
              <a:defRPr>
                <a:solidFill>
                  <a:srgbClr val="FFFFFF"/>
                </a:solidFill>
              </a:defRPr>
            </a:pPr>
          </a:p>
        </p:txBody>
      </p:sp>
      <p:pic>
        <p:nvPicPr>
          <p:cNvPr id="26" name="Picture 30" descr="Picture 30"/>
          <p:cNvPicPr>
            <a:picLocks noChangeAspect="1"/>
          </p:cNvPicPr>
          <p:nvPr/>
        </p:nvPicPr>
        <p:blipFill>
          <a:blip r:embed="rId3">
            <a:extLst/>
          </a:blip>
          <a:srcRect l="0" t="24724" r="1619" b="63695"/>
          <a:stretch>
            <a:fillRect/>
          </a:stretch>
        </p:blipFill>
        <p:spPr>
          <a:xfrm>
            <a:off x="-1" y="-2"/>
            <a:ext cx="9839327" cy="723903"/>
          </a:xfrm>
          <a:prstGeom prst="rect">
            <a:avLst/>
          </a:prstGeom>
          <a:ln w="12700">
            <a:miter lim="400000"/>
          </a:ln>
        </p:spPr>
      </p:pic>
      <p:sp>
        <p:nvSpPr>
          <p:cNvPr id="27" name="Rectangle 1"/>
          <p:cNvSpPr/>
          <p:nvPr/>
        </p:nvSpPr>
        <p:spPr>
          <a:xfrm>
            <a:off x="11925300" y="-419"/>
            <a:ext cx="266700" cy="732357"/>
          </a:xfrm>
          <a:prstGeom prst="rect">
            <a:avLst/>
          </a:prstGeom>
          <a:solidFill>
            <a:srgbClr val="FED500"/>
          </a:solidFill>
          <a:ln w="12700">
            <a:miter lim="400000"/>
          </a:ln>
        </p:spPr>
        <p:txBody>
          <a:bodyPr lIns="45719" rIns="45719" anchor="ctr"/>
          <a:lstStyle/>
          <a:p>
            <a:pPr algn="ctr">
              <a:defRPr>
                <a:solidFill>
                  <a:srgbClr val="FFFFFF"/>
                </a:solidFill>
              </a:defRPr>
            </a:pPr>
          </a:p>
        </p:txBody>
      </p:sp>
      <p:sp>
        <p:nvSpPr>
          <p:cNvPr id="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body">
    <p:spTree>
      <p:nvGrpSpPr>
        <p:cNvPr id="1" name=""/>
        <p:cNvGrpSpPr/>
        <p:nvPr/>
      </p:nvGrpSpPr>
      <p:grpSpPr>
        <a:xfrm>
          <a:off x="0" y="0"/>
          <a:ext cx="0" cy="0"/>
          <a:chOff x="0" y="0"/>
          <a:chExt cx="0" cy="0"/>
        </a:xfrm>
      </p:grpSpPr>
      <p:pic>
        <p:nvPicPr>
          <p:cNvPr id="35" name="Google Shape;110;p4" descr="Google Shape;110;p4"/>
          <p:cNvPicPr>
            <a:picLocks noChangeAspect="1"/>
          </p:cNvPicPr>
          <p:nvPr/>
        </p:nvPicPr>
        <p:blipFill>
          <a:blip r:embed="rId2">
            <a:extLst/>
          </a:blip>
          <a:stretch>
            <a:fillRect/>
          </a:stretch>
        </p:blipFill>
        <p:spPr>
          <a:xfrm>
            <a:off x="10072688" y="78001"/>
            <a:ext cx="1800226" cy="575515"/>
          </a:xfrm>
          <a:prstGeom prst="rect">
            <a:avLst/>
          </a:prstGeom>
          <a:ln w="12700">
            <a:miter lim="400000"/>
          </a:ln>
        </p:spPr>
      </p:pic>
      <p:sp>
        <p:nvSpPr>
          <p:cNvPr id="36" name="Rectangle 14"/>
          <p:cNvSpPr/>
          <p:nvPr/>
        </p:nvSpPr>
        <p:spPr>
          <a:xfrm>
            <a:off x="1" y="-1"/>
            <a:ext cx="9829801" cy="717632"/>
          </a:xfrm>
          <a:prstGeom prst="rect">
            <a:avLst/>
          </a:prstGeom>
          <a:solidFill>
            <a:srgbClr val="213264"/>
          </a:solidFill>
          <a:ln w="25400">
            <a:solidFill>
              <a:srgbClr val="213264"/>
            </a:solidFill>
          </a:ln>
        </p:spPr>
        <p:txBody>
          <a:bodyPr lIns="45719" rIns="45719" anchor="ctr"/>
          <a:lstStyle/>
          <a:p>
            <a:pPr algn="ctr">
              <a:defRPr>
                <a:solidFill>
                  <a:srgbClr val="FFFFFF"/>
                </a:solidFill>
              </a:defRPr>
            </a:pPr>
          </a:p>
        </p:txBody>
      </p:sp>
      <p:sp>
        <p:nvSpPr>
          <p:cNvPr id="37" name="Rectangle 18"/>
          <p:cNvSpPr/>
          <p:nvPr/>
        </p:nvSpPr>
        <p:spPr>
          <a:xfrm>
            <a:off x="9888966" y="-419"/>
            <a:ext cx="112284" cy="732357"/>
          </a:xfrm>
          <a:prstGeom prst="rect">
            <a:avLst/>
          </a:prstGeom>
          <a:solidFill>
            <a:srgbClr val="7FBA00"/>
          </a:solidFill>
          <a:ln w="12700">
            <a:miter lim="400000"/>
          </a:ln>
        </p:spPr>
        <p:txBody>
          <a:bodyPr lIns="45719" rIns="45719" anchor="ctr"/>
          <a:lstStyle/>
          <a:p>
            <a:pPr algn="ctr">
              <a:defRPr>
                <a:solidFill>
                  <a:srgbClr val="FFFFFF"/>
                </a:solidFill>
              </a:defRPr>
            </a:pPr>
          </a:p>
        </p:txBody>
      </p:sp>
      <p:pic>
        <p:nvPicPr>
          <p:cNvPr id="38" name="Picture 30" descr="Picture 30"/>
          <p:cNvPicPr>
            <a:picLocks noChangeAspect="1"/>
          </p:cNvPicPr>
          <p:nvPr/>
        </p:nvPicPr>
        <p:blipFill>
          <a:blip r:embed="rId3">
            <a:extLst/>
          </a:blip>
          <a:srcRect l="0" t="24724" r="1619" b="63695"/>
          <a:stretch>
            <a:fillRect/>
          </a:stretch>
        </p:blipFill>
        <p:spPr>
          <a:xfrm>
            <a:off x="-1" y="-2"/>
            <a:ext cx="9839327" cy="723903"/>
          </a:xfrm>
          <a:prstGeom prst="rect">
            <a:avLst/>
          </a:prstGeom>
          <a:ln w="12700">
            <a:miter lim="400000"/>
          </a:ln>
        </p:spPr>
      </p:pic>
      <p:sp>
        <p:nvSpPr>
          <p:cNvPr id="39" name="Rectangle 1"/>
          <p:cNvSpPr/>
          <p:nvPr/>
        </p:nvSpPr>
        <p:spPr>
          <a:xfrm>
            <a:off x="11925300" y="-419"/>
            <a:ext cx="266700" cy="732357"/>
          </a:xfrm>
          <a:prstGeom prst="rect">
            <a:avLst/>
          </a:prstGeom>
          <a:solidFill>
            <a:srgbClr val="FED500"/>
          </a:solidFill>
          <a:ln w="12700">
            <a:miter lim="400000"/>
          </a:ln>
        </p:spPr>
        <p:txBody>
          <a:bodyPr lIns="45719" rIns="45719" anchor="ctr"/>
          <a:lstStyle/>
          <a:p>
            <a:pPr algn="ctr">
              <a:defRPr>
                <a:solidFill>
                  <a:srgbClr val="FFFFFF"/>
                </a:solidFill>
              </a:defRPr>
            </a:pP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Title Slide">
    <p:spTree>
      <p:nvGrpSpPr>
        <p:cNvPr id="1" name=""/>
        <p:cNvGrpSpPr/>
        <p:nvPr/>
      </p:nvGrpSpPr>
      <p:grpSpPr>
        <a:xfrm>
          <a:off x="0" y="0"/>
          <a:ext cx="0" cy="0"/>
          <a:chOff x="0" y="0"/>
          <a:chExt cx="0" cy="0"/>
        </a:xfrm>
      </p:grpSpPr>
      <p:pic>
        <p:nvPicPr>
          <p:cNvPr id="47" name="Google Shape;110;p4" descr="Google Shape;110;p4"/>
          <p:cNvPicPr>
            <a:picLocks noChangeAspect="1"/>
          </p:cNvPicPr>
          <p:nvPr/>
        </p:nvPicPr>
        <p:blipFill>
          <a:blip r:embed="rId2">
            <a:extLst/>
          </a:blip>
          <a:stretch>
            <a:fillRect/>
          </a:stretch>
        </p:blipFill>
        <p:spPr>
          <a:xfrm>
            <a:off x="10072688" y="78001"/>
            <a:ext cx="1800226" cy="575515"/>
          </a:xfrm>
          <a:prstGeom prst="rect">
            <a:avLst/>
          </a:prstGeom>
          <a:ln w="12700">
            <a:miter lim="400000"/>
          </a:ln>
        </p:spPr>
      </p:pic>
      <p:sp>
        <p:nvSpPr>
          <p:cNvPr id="48" name="Rectangle 14"/>
          <p:cNvSpPr/>
          <p:nvPr/>
        </p:nvSpPr>
        <p:spPr>
          <a:xfrm>
            <a:off x="1" y="-1"/>
            <a:ext cx="9829801" cy="717632"/>
          </a:xfrm>
          <a:prstGeom prst="rect">
            <a:avLst/>
          </a:prstGeom>
          <a:solidFill>
            <a:srgbClr val="213264"/>
          </a:solidFill>
          <a:ln w="25400">
            <a:solidFill>
              <a:srgbClr val="213264"/>
            </a:solidFill>
          </a:ln>
        </p:spPr>
        <p:txBody>
          <a:bodyPr lIns="45719" rIns="45719" anchor="ctr"/>
          <a:lstStyle/>
          <a:p>
            <a:pPr algn="ctr">
              <a:defRPr>
                <a:solidFill>
                  <a:srgbClr val="FFFFFF"/>
                </a:solidFill>
              </a:defRPr>
            </a:pPr>
          </a:p>
        </p:txBody>
      </p:sp>
      <p:sp>
        <p:nvSpPr>
          <p:cNvPr id="49" name="Rectangle 18"/>
          <p:cNvSpPr/>
          <p:nvPr/>
        </p:nvSpPr>
        <p:spPr>
          <a:xfrm>
            <a:off x="9888966" y="-419"/>
            <a:ext cx="112284" cy="732357"/>
          </a:xfrm>
          <a:prstGeom prst="rect">
            <a:avLst/>
          </a:prstGeom>
          <a:solidFill>
            <a:srgbClr val="7FBA00"/>
          </a:solidFill>
          <a:ln w="12700">
            <a:miter lim="400000"/>
          </a:ln>
        </p:spPr>
        <p:txBody>
          <a:bodyPr lIns="45719" rIns="45719" anchor="ctr"/>
          <a:lstStyle/>
          <a:p>
            <a:pPr algn="ctr">
              <a:defRPr>
                <a:solidFill>
                  <a:srgbClr val="FFFFFF"/>
                </a:solidFill>
              </a:defRPr>
            </a:pPr>
          </a:p>
        </p:txBody>
      </p:sp>
      <p:pic>
        <p:nvPicPr>
          <p:cNvPr id="50" name="Picture 30" descr="Picture 30"/>
          <p:cNvPicPr>
            <a:picLocks noChangeAspect="1"/>
          </p:cNvPicPr>
          <p:nvPr/>
        </p:nvPicPr>
        <p:blipFill>
          <a:blip r:embed="rId3">
            <a:extLst/>
          </a:blip>
          <a:srcRect l="0" t="24724" r="1619" b="63695"/>
          <a:stretch>
            <a:fillRect/>
          </a:stretch>
        </p:blipFill>
        <p:spPr>
          <a:xfrm>
            <a:off x="-1" y="-2"/>
            <a:ext cx="9839327" cy="723903"/>
          </a:xfrm>
          <a:prstGeom prst="rect">
            <a:avLst/>
          </a:prstGeom>
          <a:ln w="12700">
            <a:miter lim="400000"/>
          </a:ln>
        </p:spPr>
      </p:pic>
      <p:sp>
        <p:nvSpPr>
          <p:cNvPr id="51" name="Rectangle 1"/>
          <p:cNvSpPr/>
          <p:nvPr/>
        </p:nvSpPr>
        <p:spPr>
          <a:xfrm>
            <a:off x="11925300" y="-419"/>
            <a:ext cx="266700" cy="732357"/>
          </a:xfrm>
          <a:prstGeom prst="rect">
            <a:avLst/>
          </a:prstGeom>
          <a:solidFill>
            <a:srgbClr val="FED500"/>
          </a:solidFill>
          <a:ln w="12700">
            <a:miter lim="400000"/>
          </a:ln>
        </p:spPr>
        <p:txBody>
          <a:bodyPr lIns="45719" rIns="45719" anchor="ctr"/>
          <a:lstStyle/>
          <a:p>
            <a:pPr algn="ctr">
              <a:defRPr>
                <a:solidFill>
                  <a:srgbClr val="FFFFFF"/>
                </a:solidFill>
              </a:defRPr>
            </a:pPr>
          </a:p>
        </p:txBody>
      </p:sp>
      <p:sp>
        <p:nvSpPr>
          <p:cNvPr id="5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1.jpe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Google Shape;110;p4" descr="Google Shape;110;p4"/>
          <p:cNvPicPr>
            <a:picLocks noChangeAspect="1"/>
          </p:cNvPicPr>
          <p:nvPr/>
        </p:nvPicPr>
        <p:blipFill>
          <a:blip r:embed="rId2">
            <a:extLst/>
          </a:blip>
          <a:stretch>
            <a:fillRect/>
          </a:stretch>
        </p:blipFill>
        <p:spPr>
          <a:xfrm>
            <a:off x="10072688" y="78001"/>
            <a:ext cx="1800226" cy="575515"/>
          </a:xfrm>
          <a:prstGeom prst="rect">
            <a:avLst/>
          </a:prstGeom>
          <a:ln w="12700">
            <a:miter lim="400000"/>
          </a:ln>
        </p:spPr>
      </p:pic>
      <p:sp>
        <p:nvSpPr>
          <p:cNvPr id="3" name="Rectangle 14"/>
          <p:cNvSpPr/>
          <p:nvPr/>
        </p:nvSpPr>
        <p:spPr>
          <a:xfrm>
            <a:off x="1" y="-1"/>
            <a:ext cx="9829801" cy="717632"/>
          </a:xfrm>
          <a:prstGeom prst="rect">
            <a:avLst/>
          </a:prstGeom>
          <a:solidFill>
            <a:srgbClr val="213264"/>
          </a:solidFill>
          <a:ln w="25400">
            <a:solidFill>
              <a:srgbClr val="213264"/>
            </a:solidFill>
          </a:ln>
        </p:spPr>
        <p:txBody>
          <a:bodyPr lIns="45719" rIns="45719" anchor="ctr"/>
          <a:lstStyle/>
          <a:p>
            <a:pPr algn="ctr">
              <a:defRPr>
                <a:solidFill>
                  <a:srgbClr val="FFFFFF"/>
                </a:solidFill>
              </a:defRPr>
            </a:pPr>
          </a:p>
        </p:txBody>
      </p:sp>
      <p:sp>
        <p:nvSpPr>
          <p:cNvPr id="4" name="Rectangle 18"/>
          <p:cNvSpPr/>
          <p:nvPr/>
        </p:nvSpPr>
        <p:spPr>
          <a:xfrm>
            <a:off x="9888966" y="-419"/>
            <a:ext cx="112284" cy="732357"/>
          </a:xfrm>
          <a:prstGeom prst="rect">
            <a:avLst/>
          </a:prstGeom>
          <a:solidFill>
            <a:srgbClr val="7FBA00"/>
          </a:solidFill>
          <a:ln w="12700">
            <a:miter lim="400000"/>
          </a:ln>
        </p:spPr>
        <p:txBody>
          <a:bodyPr lIns="45719" rIns="45719" anchor="ctr"/>
          <a:lstStyle/>
          <a:p>
            <a:pPr algn="ctr">
              <a:defRPr>
                <a:solidFill>
                  <a:srgbClr val="FFFFFF"/>
                </a:solidFill>
              </a:defRPr>
            </a:pPr>
          </a:p>
        </p:txBody>
      </p:sp>
      <p:pic>
        <p:nvPicPr>
          <p:cNvPr id="5" name="Picture 30" descr="Picture 30"/>
          <p:cNvPicPr>
            <a:picLocks noChangeAspect="1"/>
          </p:cNvPicPr>
          <p:nvPr/>
        </p:nvPicPr>
        <p:blipFill>
          <a:blip r:embed="rId3">
            <a:alphaModFix amt="16000"/>
            <a:extLst/>
          </a:blip>
          <a:srcRect l="0" t="24724" r="1619" b="63695"/>
          <a:stretch>
            <a:fillRect/>
          </a:stretch>
        </p:blipFill>
        <p:spPr>
          <a:xfrm>
            <a:off x="-1" y="-2"/>
            <a:ext cx="9839327" cy="723903"/>
          </a:xfrm>
          <a:prstGeom prst="rect">
            <a:avLst/>
          </a:prstGeom>
          <a:ln w="12700">
            <a:miter lim="400000"/>
          </a:ln>
        </p:spPr>
      </p:pic>
      <p:sp>
        <p:nvSpPr>
          <p:cNvPr id="6" name="Rectangle 1"/>
          <p:cNvSpPr/>
          <p:nvPr/>
        </p:nvSpPr>
        <p:spPr>
          <a:xfrm>
            <a:off x="11925300" y="-419"/>
            <a:ext cx="266700" cy="732357"/>
          </a:xfrm>
          <a:prstGeom prst="rect">
            <a:avLst/>
          </a:prstGeom>
          <a:solidFill>
            <a:srgbClr val="FED500"/>
          </a:solidFill>
          <a:ln w="12700">
            <a:miter lim="400000"/>
          </a:ln>
        </p:spPr>
        <p:txBody>
          <a:bodyPr lIns="45719" rIns="45719" anchor="ctr"/>
          <a:lstStyle/>
          <a:p>
            <a:pPr algn="ctr">
              <a:defRPr>
                <a:solidFill>
                  <a:srgbClr val="FFFFFF"/>
                </a:solidFill>
              </a:defRPr>
            </a:pPr>
          </a:p>
        </p:txBody>
      </p:sp>
      <p:sp>
        <p:nvSpPr>
          <p:cNvPr id="7" name="Title Text"/>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8"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9"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9pPr>
    </p:titleStyle>
    <p:bodyStyle>
      <a:lvl1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b="0" baseline="0" cap="none" i="0" spc="0" strike="noStrike" sz="1800" u="none">
          <a:solidFill>
            <a:srgbClr val="000000"/>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freepik.com/" TargetMode="External"/><Relationship Id="rId3"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Paartha23/Forest-fire-detection" TargetMode="Externa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9.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1" name="Picture 1" descr="Picture 1"/>
          <p:cNvPicPr>
            <a:picLocks noChangeAspect="1"/>
          </p:cNvPicPr>
          <p:nvPr/>
        </p:nvPicPr>
        <p:blipFill>
          <a:blip r:embed="rId2">
            <a:extLst/>
          </a:blip>
          <a:stretch>
            <a:fillRect/>
          </a:stretch>
        </p:blipFill>
        <p:spPr>
          <a:xfrm>
            <a:off x="0" y="0"/>
            <a:ext cx="12192000" cy="6858000"/>
          </a:xfrm>
          <a:prstGeom prst="rect">
            <a:avLst/>
          </a:prstGeom>
          <a:ln w="12700">
            <a:miter lim="400000"/>
          </a:ln>
        </p:spPr>
      </p:pic>
      <p:sp>
        <p:nvSpPr>
          <p:cNvPr id="62" name="TextBox 4"/>
          <p:cNvSpPr txBox="1"/>
          <p:nvPr/>
        </p:nvSpPr>
        <p:spPr>
          <a:xfrm>
            <a:off x="4517848" y="1869301"/>
            <a:ext cx="6779423" cy="5262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r">
              <a:defRPr b="1" sz="3000">
                <a:solidFill>
                  <a:srgbClr val="FFFFFF"/>
                </a:solidFill>
                <a:latin typeface="Calibri"/>
                <a:ea typeface="Calibri"/>
                <a:cs typeface="Calibri"/>
                <a:sym typeface="Calibri"/>
              </a:defRPr>
            </a:pPr>
            <a:r>
              <a:t>Forest Fire </a:t>
            </a:r>
            <a:r>
              <a:rPr>
                <a:latin typeface="Times New Roman"/>
                <a:ea typeface="Times New Roman"/>
                <a:cs typeface="Times New Roman"/>
                <a:sym typeface="Times New Roman"/>
              </a:rPr>
              <a:t>Detection</a:t>
            </a:r>
            <a:r>
              <a:t> Using Deep </a:t>
            </a:r>
            <a:r>
              <a:rPr sz="3200"/>
              <a:t>learning</a:t>
            </a:r>
          </a:p>
        </p:txBody>
      </p:sp>
      <p:sp>
        <p:nvSpPr>
          <p:cNvPr id="63" name="TextBox 2"/>
          <p:cNvSpPr txBox="1"/>
          <p:nvPr/>
        </p:nvSpPr>
        <p:spPr>
          <a:xfrm>
            <a:off x="4627050" y="2761861"/>
            <a:ext cx="6878528" cy="7642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solidFill>
                  <a:srgbClr val="FFFFFF"/>
                </a:solidFill>
                <a:latin typeface="Times New Roman"/>
                <a:ea typeface="Times New Roman"/>
                <a:cs typeface="Times New Roman"/>
                <a:sym typeface="Times New Roman"/>
              </a:defRPr>
            </a:pPr>
            <a:r>
              <a:t>Name : Amith A N</a:t>
            </a:r>
          </a:p>
          <a:p>
            <a:pPr>
              <a:defRPr sz="2400">
                <a:solidFill>
                  <a:srgbClr val="FFFFFF"/>
                </a:solidFill>
                <a:latin typeface="Times New Roman"/>
                <a:ea typeface="Times New Roman"/>
                <a:cs typeface="Times New Roman"/>
                <a:sym typeface="Times New Roman"/>
              </a:defRPr>
            </a:pPr>
            <a:r>
              <a:t>USN : 1CG22CS008</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 name="TextBox 1"/>
          <p:cNvSpPr txBox="1"/>
          <p:nvPr/>
        </p:nvSpPr>
        <p:spPr>
          <a:xfrm>
            <a:off x="237630" y="972536"/>
            <a:ext cx="2561451" cy="3752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213163"/>
                </a:solidFill>
              </a:defRPr>
            </a:lvl1pPr>
          </a:lstStyle>
          <a:p>
            <a:pPr/>
            <a:r>
              <a:t>Learning Objectives</a:t>
            </a:r>
          </a:p>
        </p:txBody>
      </p:sp>
      <p:sp>
        <p:nvSpPr>
          <p:cNvPr id="66" name="TextBox 2"/>
          <p:cNvSpPr txBox="1"/>
          <p:nvPr/>
        </p:nvSpPr>
        <p:spPr>
          <a:xfrm>
            <a:off x="245529" y="6135328"/>
            <a:ext cx="704431" cy="2642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800"/>
              </a:spcBef>
              <a:defRPr b="1" sz="1200"/>
            </a:lvl1pPr>
          </a:lstStyle>
          <a:p>
            <a:pPr/>
            <a:r>
              <a:t>Source : </a:t>
            </a:r>
          </a:p>
        </p:txBody>
      </p:sp>
      <p:sp>
        <p:nvSpPr>
          <p:cNvPr id="67" name="TextBox 3"/>
          <p:cNvSpPr txBox="1"/>
          <p:nvPr/>
        </p:nvSpPr>
        <p:spPr>
          <a:xfrm>
            <a:off x="926249" y="6135328"/>
            <a:ext cx="1750910" cy="26425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800"/>
              </a:spcBef>
              <a:defRPr sz="1200" u="sng">
                <a:solidFill>
                  <a:schemeClr val="accent5"/>
                </a:solidFill>
                <a:uFill>
                  <a:solidFill>
                    <a:schemeClr val="accent5"/>
                  </a:solidFill>
                </a:uFill>
                <a:hlinkClick r:id="rId2" invalidUrl="" action="" tgtFrame="" tooltip="" history="1" highlightClick="0" endSnd="0"/>
              </a:defRPr>
            </a:lvl1pPr>
          </a:lstStyle>
          <a:p>
            <a:pPr>
              <a:defRPr u="none">
                <a:solidFill>
                  <a:srgbClr val="0000FF"/>
                </a:solidFill>
                <a:uFillTx/>
              </a:defRPr>
            </a:pPr>
            <a:r>
              <a:rPr u="sng">
                <a:solidFill>
                  <a:schemeClr val="accent5"/>
                </a:solidFill>
                <a:uFill>
                  <a:solidFill>
                    <a:schemeClr val="accent5"/>
                  </a:solidFill>
                </a:uFill>
                <a:hlinkClick r:id="rId2" invalidUrl="" action="" tgtFrame="" tooltip="" history="1" highlightClick="0" endSnd="0"/>
              </a:rPr>
              <a:t>www.freepik.com/</a:t>
            </a:r>
          </a:p>
        </p:txBody>
      </p:sp>
      <p:sp>
        <p:nvSpPr>
          <p:cNvPr id="68" name="Straight Connector 4"/>
          <p:cNvSpPr/>
          <p:nvPr/>
        </p:nvSpPr>
        <p:spPr>
          <a:xfrm>
            <a:off x="0" y="6055359"/>
            <a:ext cx="12192001" cy="1"/>
          </a:xfrm>
          <a:prstGeom prst="line">
            <a:avLst/>
          </a:prstGeom>
          <a:ln w="12700">
            <a:solidFill>
              <a:srgbClr val="D9D9D9"/>
            </a:solidFill>
          </a:ln>
        </p:spPr>
        <p:txBody>
          <a:bodyPr lIns="45719" rIns="45719"/>
          <a:lstStyle/>
          <a:p>
            <a:pPr/>
          </a:p>
        </p:txBody>
      </p:sp>
      <p:pic>
        <p:nvPicPr>
          <p:cNvPr id="69" name="Picture 5" descr="Picture 5"/>
          <p:cNvPicPr>
            <a:picLocks noChangeAspect="1"/>
          </p:cNvPicPr>
          <p:nvPr/>
        </p:nvPicPr>
        <p:blipFill>
          <a:blip r:embed="rId3">
            <a:alphaModFix amt="85000"/>
            <a:extLst/>
          </a:blip>
          <a:srcRect l="13763" t="6135" r="13649" b="0"/>
          <a:stretch>
            <a:fillRect/>
          </a:stretch>
        </p:blipFill>
        <p:spPr>
          <a:xfrm>
            <a:off x="7345680" y="1442719"/>
            <a:ext cx="4500881" cy="4632961"/>
          </a:xfrm>
          <a:prstGeom prst="rect">
            <a:avLst/>
          </a:prstGeom>
          <a:ln w="12700">
            <a:miter lim="400000"/>
          </a:ln>
        </p:spPr>
      </p:pic>
      <p:sp>
        <p:nvSpPr>
          <p:cNvPr id="70" name="TextBox 6"/>
          <p:cNvSpPr txBox="1"/>
          <p:nvPr/>
        </p:nvSpPr>
        <p:spPr>
          <a:xfrm>
            <a:off x="8884920" y="3168608"/>
            <a:ext cx="1412241" cy="58490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800"/>
              </a:spcBef>
              <a:defRPr b="1" sz="3500"/>
            </a:lvl1pPr>
          </a:lstStyle>
          <a:p>
            <a:pPr/>
            <a:r>
              <a:t>GOAL</a:t>
            </a:r>
          </a:p>
        </p:txBody>
      </p:sp>
      <p:sp>
        <p:nvSpPr>
          <p:cNvPr id="71" name="TextBox 7"/>
          <p:cNvSpPr txBox="1"/>
          <p:nvPr/>
        </p:nvSpPr>
        <p:spPr>
          <a:xfrm>
            <a:off x="245529" y="1754153"/>
            <a:ext cx="7397175" cy="408446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457200" indent="-457200">
              <a:buClr>
                <a:srgbClr val="000000"/>
              </a:buClr>
              <a:buSzPct val="100000"/>
              <a:buChar char="➢"/>
            </a:pPr>
            <a:r>
              <a:t>Understood the use of CNN for this project</a:t>
            </a:r>
          </a:p>
          <a:p>
            <a:pPr marL="457200" indent="-457200">
              <a:buClr>
                <a:srgbClr val="000000"/>
              </a:buClr>
              <a:buSzPct val="100000"/>
              <a:buChar char="➢"/>
            </a:pPr>
            <a:r>
              <a:t>How Convolutional Neural Networks (CNNs) are used to detect forest fires from images.</a:t>
            </a:r>
          </a:p>
          <a:p>
            <a:pPr marL="457200" indent="-457200">
              <a:buClr>
                <a:srgbClr val="000000"/>
              </a:buClr>
              <a:buSzPct val="100000"/>
              <a:buChar char="➢"/>
            </a:pPr>
            <a:r>
              <a:t>Know how conv 2d works</a:t>
            </a:r>
          </a:p>
          <a:p>
            <a:pPr marL="457200" indent="-457200">
              <a:buClr>
                <a:srgbClr val="000000"/>
              </a:buClr>
              <a:buSzPct val="100000"/>
              <a:buChar char="➢"/>
            </a:pPr>
            <a:r>
              <a:t>Exploring and building the model for two classes which are fire and no-fire</a:t>
            </a:r>
          </a:p>
          <a:p>
            <a:pPr marL="457200" indent="-457200">
              <a:buClr>
                <a:srgbClr val="000000"/>
              </a:buClr>
              <a:buSzPct val="100000"/>
              <a:buChar char="➢"/>
            </a:pPr>
            <a:r>
              <a:t>Analyse the accuracy of the model </a:t>
            </a:r>
          </a:p>
          <a:p>
            <a:pPr marL="457200" indent="-457200">
              <a:buClr>
                <a:srgbClr val="000000"/>
              </a:buClr>
              <a:buSzPct val="100000"/>
              <a:buChar char="➢"/>
            </a:pPr>
            <a:r>
              <a:t>Interpreted results using metrics like accuracy and confusion matrix to understand model effectiveness.</a:t>
            </a:r>
          </a:p>
          <a:p>
            <a:pPr marL="457200" indent="-457200">
              <a:buClr>
                <a:srgbClr val="000000"/>
              </a:buClr>
              <a:buSzPct val="100000"/>
              <a:buChar char="➢"/>
            </a:pPr>
            <a:r>
              <a:t>Applied training techniques and split data to evaluate how well the model detects fires and no-fire.</a:t>
            </a:r>
          </a:p>
          <a:p>
            <a:pPr marL="457200" indent="-457200">
              <a:buClr>
                <a:srgbClr val="000000"/>
              </a:buClr>
              <a:buSzPct val="100000"/>
              <a:buChar char="➢"/>
            </a:pPr>
            <a:r>
              <a:t>Learned the end-to-end process of building a CNN model for a real-world application.</a:t>
            </a:r>
          </a:p>
          <a:p>
            <a:pPr marL="457200" indent="-457200">
              <a:buClr>
                <a:srgbClr val="000000"/>
              </a:buClr>
              <a:buSzPct val="100000"/>
              <a:buChar char="➢"/>
            </a:pPr>
            <a:r>
              <a:t>Worked on creating a deep learning model to classify images into two categories: </a:t>
            </a:r>
            <a:r>
              <a:rPr b="1"/>
              <a:t>Fire</a:t>
            </a:r>
            <a:r>
              <a:t> and </a:t>
            </a:r>
            <a:r>
              <a:rPr b="1"/>
              <a:t>No Fire</a:t>
            </a:r>
            <a:r>
              <a:t>.</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3" name="TextBox 2"/>
          <p:cNvSpPr txBox="1"/>
          <p:nvPr/>
        </p:nvSpPr>
        <p:spPr>
          <a:xfrm>
            <a:off x="181554" y="1067663"/>
            <a:ext cx="6011186" cy="3752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solidFill>
                  <a:srgbClr val="213163"/>
                </a:solidFill>
              </a:defRPr>
            </a:pPr>
            <a:r>
              <a:t>T</a:t>
            </a:r>
            <a:r>
              <a:rPr sz="2000"/>
              <a:t>ools and Technology used </a:t>
            </a:r>
          </a:p>
        </p:txBody>
      </p:sp>
      <p:sp>
        <p:nvSpPr>
          <p:cNvPr id="74" name="TextBox 1"/>
          <p:cNvSpPr txBox="1"/>
          <p:nvPr/>
        </p:nvSpPr>
        <p:spPr>
          <a:xfrm>
            <a:off x="334969" y="1726163"/>
            <a:ext cx="10881361" cy="437217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Clr>
                <a:srgbClr val="000000"/>
              </a:buClr>
              <a:buSzPct val="100000"/>
              <a:buChar char="➢"/>
              <a:defRPr b="1" sz="2200">
                <a:latin typeface="Times New Roman"/>
                <a:ea typeface="Times New Roman"/>
                <a:cs typeface="Times New Roman"/>
                <a:sym typeface="Times New Roman"/>
              </a:defRPr>
            </a:pPr>
            <a:r>
              <a:t>Google Colab</a:t>
            </a:r>
            <a:r>
              <a:rPr b="0"/>
              <a:t> – Used as the coding platform with free GPU support Which is </a:t>
            </a:r>
            <a:r>
              <a:t>T4</a:t>
            </a:r>
            <a:r>
              <a:rPr b="0"/>
              <a:t>.</a:t>
            </a:r>
            <a:endParaRPr b="0"/>
          </a:p>
          <a:p>
            <a:pPr marL="342900" indent="-342900">
              <a:buClr>
                <a:srgbClr val="000000"/>
              </a:buClr>
              <a:buSzPct val="100000"/>
              <a:buChar char="➢"/>
              <a:defRPr b="1" sz="2200">
                <a:latin typeface="Times New Roman"/>
                <a:ea typeface="Times New Roman"/>
                <a:cs typeface="Times New Roman"/>
                <a:sym typeface="Times New Roman"/>
              </a:defRPr>
            </a:pPr>
            <a:r>
              <a:t>Python</a:t>
            </a:r>
            <a:r>
              <a:rPr b="0"/>
              <a:t> – Programming language used to build the project.</a:t>
            </a:r>
            <a:endParaRPr b="0"/>
          </a:p>
          <a:p>
            <a:pPr marL="342900" indent="-342900">
              <a:buClr>
                <a:srgbClr val="000000"/>
              </a:buClr>
              <a:buSzPct val="100000"/>
              <a:buChar char="➢"/>
              <a:defRPr b="1" sz="2200">
                <a:latin typeface="Times New Roman"/>
                <a:ea typeface="Times New Roman"/>
                <a:cs typeface="Times New Roman"/>
                <a:sym typeface="Times New Roman"/>
              </a:defRPr>
            </a:pPr>
            <a:r>
              <a:t>Frameworks Used </a:t>
            </a:r>
            <a:r>
              <a:rPr b="0"/>
              <a:t>– Tensorflow,Keras,Kaggle Api</a:t>
            </a:r>
            <a:endParaRPr b="0"/>
          </a:p>
          <a:p>
            <a:pPr marL="342900" indent="-342900">
              <a:buClr>
                <a:srgbClr val="000000"/>
              </a:buClr>
              <a:buSzPct val="100000"/>
              <a:buChar char="➢"/>
              <a:defRPr b="1" sz="2200">
                <a:latin typeface="Times New Roman"/>
                <a:ea typeface="Times New Roman"/>
                <a:cs typeface="Times New Roman"/>
                <a:sym typeface="Times New Roman"/>
              </a:defRPr>
            </a:pPr>
            <a:r>
              <a:t>Model Used </a:t>
            </a:r>
            <a:r>
              <a:rPr b="0"/>
              <a:t>- Convolutional Neural Network (CNN), Conv2D, MaxPooling2D, Flatten</a:t>
            </a:r>
            <a:endParaRPr b="0"/>
          </a:p>
          <a:p>
            <a:pPr marL="342900" indent="-342900">
              <a:buClr>
                <a:srgbClr val="000000"/>
              </a:buClr>
              <a:buSzPct val="100000"/>
              <a:buChar char="➢"/>
              <a:defRPr b="1" sz="2200">
                <a:latin typeface="Times New Roman"/>
                <a:ea typeface="Times New Roman"/>
                <a:cs typeface="Times New Roman"/>
                <a:sym typeface="Times New Roman"/>
              </a:defRPr>
            </a:pPr>
            <a:r>
              <a:t>Development Environment </a:t>
            </a:r>
            <a:r>
              <a:rPr b="0"/>
              <a:t>- </a:t>
            </a:r>
            <a:r>
              <a:t>Google Colab</a:t>
            </a:r>
            <a:r>
              <a:rPr b="0"/>
              <a:t> was used as the main development environment,</a:t>
            </a:r>
            <a:endParaRPr b="0"/>
          </a:p>
          <a:p>
            <a:pPr>
              <a:defRPr sz="2200">
                <a:latin typeface="Times New Roman"/>
                <a:ea typeface="Times New Roman"/>
                <a:cs typeface="Times New Roman"/>
                <a:sym typeface="Times New Roman"/>
              </a:defRPr>
            </a:pPr>
            <a:r>
              <a:t>It provides a </a:t>
            </a:r>
            <a:r>
              <a:rPr b="1"/>
              <a:t>cloud-based Jupyter notebook</a:t>
            </a:r>
            <a:r>
              <a:t> setup with free access to </a:t>
            </a:r>
            <a:r>
              <a:rPr b="1"/>
              <a:t>GPUs(T4)</a:t>
            </a:r>
            <a:r>
              <a:t>, which helps speed up model training. No need to install anything locally everything runs in the browser.</a:t>
            </a:r>
          </a:p>
          <a:p>
            <a:pPr marL="342900" indent="-342900">
              <a:buClr>
                <a:srgbClr val="000000"/>
              </a:buClr>
              <a:buSzPct val="100000"/>
              <a:buChar char="➢"/>
              <a:defRPr b="1" sz="2200">
                <a:latin typeface="Times New Roman"/>
                <a:ea typeface="Times New Roman"/>
                <a:cs typeface="Times New Roman"/>
                <a:sym typeface="Times New Roman"/>
              </a:defRPr>
            </a:pPr>
            <a:r>
              <a:t>Matplotlib</a:t>
            </a:r>
            <a:r>
              <a:rPr b="0"/>
              <a:t> – Used to plot accuracy and loss graphs for model performance.</a:t>
            </a:r>
            <a:endParaRPr b="0"/>
          </a:p>
          <a:p>
            <a:pPr marL="342900" indent="-342900">
              <a:buClr>
                <a:srgbClr val="000000"/>
              </a:buClr>
              <a:buSzPct val="100000"/>
              <a:buChar char="➢"/>
              <a:defRPr b="1" sz="2200">
                <a:latin typeface="Times New Roman"/>
                <a:ea typeface="Times New Roman"/>
                <a:cs typeface="Times New Roman"/>
                <a:sym typeface="Times New Roman"/>
              </a:defRPr>
            </a:pPr>
            <a:r>
              <a:t>TensorFlow &amp; Keras</a:t>
            </a:r>
            <a:r>
              <a:rPr b="0"/>
              <a:t> – Used to create and train the deep learning (CNN) model.</a:t>
            </a:r>
            <a:endParaRPr b="0"/>
          </a:p>
          <a:p>
            <a:pPr marL="342900" indent="-342900">
              <a:buClr>
                <a:srgbClr val="000000"/>
              </a:buClr>
              <a:buSzPct val="100000"/>
              <a:buChar char="➢"/>
              <a:defRPr b="1" sz="2200">
                <a:latin typeface="Times New Roman"/>
                <a:ea typeface="Times New Roman"/>
                <a:cs typeface="Times New Roman"/>
                <a:sym typeface="Times New Roman"/>
              </a:defRPr>
            </a:pPr>
            <a:r>
              <a:t>Dataset Used – </a:t>
            </a:r>
            <a:r>
              <a:rPr b="0"/>
              <a:t>Dataset is taken from the Kaggle website which is freely available ,</a:t>
            </a:r>
            <a:endParaRPr b="0"/>
          </a:p>
          <a:p>
            <a:pPr>
              <a:defRPr sz="2200">
                <a:latin typeface="Times New Roman"/>
                <a:ea typeface="Times New Roman"/>
                <a:cs typeface="Times New Roman"/>
                <a:sym typeface="Times New Roman"/>
              </a:defRPr>
            </a:pPr>
            <a:r>
              <a:t>        Link for the dataset=</a:t>
            </a:r>
            <a:r>
              <a:rPr u="sng"/>
              <a:t>https://www.kaggle.com/datasets/elmadafri/the-wildfire-dataset </a:t>
            </a:r>
            <a:endParaRPr b="1" u="sng"/>
          </a:p>
        </p:txBody>
      </p:sp>
      <p:sp>
        <p:nvSpPr>
          <p:cNvPr id="75" name="Rectangle 2"/>
          <p:cNvSpPr txBox="1"/>
          <p:nvPr/>
        </p:nvSpPr>
        <p:spPr>
          <a:xfrm>
            <a:off x="45719" y="-308046"/>
            <a:ext cx="7045857" cy="617362"/>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lvl1pPr>
              <a:buSzPct val="100000"/>
              <a:buChar char="•"/>
            </a:lvl1pPr>
          </a:lstStyle>
          <a:p>
            <a:pPr/>
            <a:r>
              <a:t>No need to install anything locally — everything runs in the browser.</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 name="TextBox 2"/>
          <p:cNvSpPr txBox="1"/>
          <p:nvPr/>
        </p:nvSpPr>
        <p:spPr>
          <a:xfrm>
            <a:off x="314076" y="1014655"/>
            <a:ext cx="6011186" cy="3752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000">
                <a:solidFill>
                  <a:srgbClr val="213163"/>
                </a:solidFill>
              </a:defRPr>
            </a:pPr>
            <a:r>
              <a:t>Methodology</a:t>
            </a:r>
            <a:r>
              <a:rPr sz="1800"/>
              <a:t> </a:t>
            </a:r>
          </a:p>
        </p:txBody>
      </p:sp>
      <p:sp>
        <p:nvSpPr>
          <p:cNvPr id="78" name="TextBox 1"/>
          <p:cNvSpPr txBox="1"/>
          <p:nvPr/>
        </p:nvSpPr>
        <p:spPr>
          <a:xfrm>
            <a:off x="418943" y="1726162"/>
            <a:ext cx="11254587" cy="475425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457200" indent="-457200">
              <a:buClr>
                <a:srgbClr val="000000"/>
              </a:buClr>
              <a:buSzPct val="100000"/>
              <a:buAutoNum type="arabicPeriod" startAt="1"/>
              <a:defRPr b="1" sz="2000">
                <a:latin typeface="Times New Roman"/>
                <a:ea typeface="Times New Roman"/>
                <a:cs typeface="Times New Roman"/>
                <a:sym typeface="Times New Roman"/>
              </a:defRPr>
            </a:pPr>
            <a:r>
              <a:t>Getting the Dataset</a:t>
            </a:r>
            <a:br/>
            <a:r>
              <a:rPr b="0"/>
              <a:t>We started by downloading a wildfire image dataset from Kaggle using a tool called Kaggale The dataset was neatly organized into folders for training, validation, and testing, with images categorized as either "fire" or "no fire".  </a:t>
            </a:r>
            <a:endParaRPr b="0"/>
          </a:p>
          <a:p>
            <a:pPr marL="457200" indent="-457200">
              <a:buClr>
                <a:srgbClr val="000000"/>
              </a:buClr>
              <a:buSzPct val="100000"/>
              <a:buAutoNum type="arabicPeriod" startAt="1"/>
              <a:defRPr b="1" sz="2000">
                <a:latin typeface="Times New Roman"/>
                <a:ea typeface="Times New Roman"/>
                <a:cs typeface="Times New Roman"/>
                <a:sym typeface="Times New Roman"/>
              </a:defRPr>
            </a:pPr>
            <a:r>
              <a:t>Setting Up the Environment</a:t>
            </a:r>
            <a:br/>
            <a:r>
              <a:rPr b="0"/>
              <a:t>Since training deep learning models can be slow on regular CPUs, we checked whether a GPU was available and enabled it to speed up the training process. This setup was done in Google Colab Where everything is Free and we ran the code in T4 CPU configuration</a:t>
            </a:r>
            <a:endParaRPr b="0"/>
          </a:p>
          <a:p>
            <a:pPr marL="457200" indent="-457200">
              <a:buClr>
                <a:srgbClr val="000000"/>
              </a:buClr>
              <a:buSzPct val="100000"/>
              <a:buAutoNum type="arabicPeriod" startAt="1"/>
              <a:defRPr b="1" sz="2000">
                <a:latin typeface="Times New Roman"/>
                <a:ea typeface="Times New Roman"/>
                <a:cs typeface="Times New Roman"/>
                <a:sym typeface="Times New Roman"/>
              </a:defRPr>
            </a:pPr>
            <a:r>
              <a:t>Understanding the Data</a:t>
            </a:r>
            <a:br/>
            <a:r>
              <a:rPr b="0"/>
              <a:t>Before jumping into model building, we explored the dataset. We checked how many classes there were (fire vs. no fire), and previewed a few sample images from each class. This helped us understand the kind of data the model would be working with</a:t>
            </a:r>
            <a:endParaRPr b="0"/>
          </a:p>
          <a:p>
            <a:pPr marL="457200" indent="-457200">
              <a:buClr>
                <a:srgbClr val="000000"/>
              </a:buClr>
              <a:buSzPct val="100000"/>
              <a:buAutoNum type="arabicPeriod" startAt="1"/>
              <a:defRPr b="1" sz="2000">
                <a:latin typeface="Times New Roman"/>
                <a:ea typeface="Times New Roman"/>
                <a:cs typeface="Times New Roman"/>
                <a:sym typeface="Times New Roman"/>
              </a:defRPr>
            </a:pPr>
            <a:r>
              <a:t>Preparing the Images</a:t>
            </a:r>
          </a:p>
          <a:p>
            <a:pPr>
              <a:defRPr sz="2000">
                <a:latin typeface="Times New Roman"/>
                <a:ea typeface="Times New Roman"/>
                <a:cs typeface="Times New Roman"/>
                <a:sym typeface="Times New Roman"/>
              </a:defRPr>
            </a:pPr>
            <a:r>
              <a:t>       We used Keras ImageDataGenerator to load and prepare The images .this tool also helped us scale </a:t>
            </a:r>
          </a:p>
          <a:p>
            <a:pPr>
              <a:defRPr sz="2000">
                <a:latin typeface="Times New Roman"/>
                <a:ea typeface="Times New Roman"/>
                <a:cs typeface="Times New Roman"/>
                <a:sym typeface="Times New Roman"/>
              </a:defRPr>
            </a:pPr>
            <a:r>
              <a:t>       the pixel values and apply some basic image transformations (like flipping or zooming), which makes </a:t>
            </a:r>
          </a:p>
          <a:p>
            <a:pPr>
              <a:defRPr sz="2000">
                <a:latin typeface="Times New Roman"/>
                <a:ea typeface="Times New Roman"/>
                <a:cs typeface="Times New Roman"/>
                <a:sym typeface="Times New Roman"/>
              </a:defRPr>
            </a:pPr>
            <a:r>
              <a:t>       the model easier for different class conditions </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 name="TextBox 2"/>
          <p:cNvSpPr txBox="1"/>
          <p:nvPr/>
        </p:nvSpPr>
        <p:spPr>
          <a:xfrm>
            <a:off x="314076" y="1014655"/>
            <a:ext cx="6011186" cy="3752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000">
                <a:solidFill>
                  <a:srgbClr val="213163"/>
                </a:solidFill>
              </a:defRPr>
            </a:pPr>
            <a:r>
              <a:t>Methodology</a:t>
            </a:r>
            <a:r>
              <a:rPr sz="1800"/>
              <a:t> </a:t>
            </a:r>
          </a:p>
        </p:txBody>
      </p:sp>
      <p:sp>
        <p:nvSpPr>
          <p:cNvPr id="81" name="TextBox 1"/>
          <p:cNvSpPr txBox="1"/>
          <p:nvPr/>
        </p:nvSpPr>
        <p:spPr>
          <a:xfrm>
            <a:off x="418943" y="1726162"/>
            <a:ext cx="11254587" cy="41479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457200" indent="-457200">
              <a:buClr>
                <a:srgbClr val="000000"/>
              </a:buClr>
              <a:buSzPct val="100000"/>
              <a:buAutoNum type="arabicPeriod" startAt="5"/>
              <a:defRPr b="1" sz="2000">
                <a:latin typeface="Times New Roman"/>
                <a:ea typeface="Times New Roman"/>
                <a:cs typeface="Times New Roman"/>
                <a:sym typeface="Times New Roman"/>
              </a:defRPr>
            </a:pPr>
            <a:r>
              <a:t>Building the Model</a:t>
            </a:r>
            <a:br/>
            <a:r>
              <a:rPr b="0"/>
              <a:t>A Convolutional Neural Network (CNN) was built using TensorFlow and Keras. This model includes several layers like Dense layers to make the final classification between fire and no fire.</a:t>
            </a:r>
            <a:br>
              <a:rPr b="0"/>
            </a:br>
            <a:r>
              <a:rPr b="0"/>
              <a:t>Dropout was also added to prevent overfitting ,</a:t>
            </a:r>
            <a:endParaRPr b="0"/>
          </a:p>
          <a:p>
            <a:pPr marL="457200" indent="-457200">
              <a:buClr>
                <a:srgbClr val="000000"/>
              </a:buClr>
              <a:buSzPct val="100000"/>
              <a:buAutoNum type="arabicPeriod" startAt="5"/>
              <a:defRPr b="1" sz="2000">
                <a:latin typeface="Times New Roman"/>
                <a:ea typeface="Times New Roman"/>
                <a:cs typeface="Times New Roman"/>
                <a:sym typeface="Times New Roman"/>
              </a:defRPr>
            </a:pPr>
            <a:r>
              <a:t>Training the Model</a:t>
            </a:r>
            <a:br/>
            <a:r>
              <a:rPr b="0"/>
              <a:t>The CNN was trained using the training data. While training, we kept an eye on the model’s performance on the validation set to ensure it was learning correctly and not just memorizing the training data</a:t>
            </a:r>
            <a:endParaRPr b="0"/>
          </a:p>
          <a:p>
            <a:pPr marL="457200" indent="-457200">
              <a:buClr>
                <a:srgbClr val="000000"/>
              </a:buClr>
              <a:buSzPct val="100000"/>
              <a:buAutoNum type="arabicPeriod" startAt="5"/>
              <a:defRPr b="1" sz="2000">
                <a:latin typeface="Times New Roman"/>
                <a:ea typeface="Times New Roman"/>
                <a:cs typeface="Times New Roman"/>
                <a:sym typeface="Times New Roman"/>
              </a:defRPr>
            </a:pPr>
            <a:r>
              <a:t>Evaluating the Model</a:t>
            </a:r>
            <a:br/>
            <a:r>
              <a:rPr b="0"/>
              <a:t>After training, the model’s accuracy was tested using a separate test set (images it hadn’t seen before). This helped us measure how well the model could generalize to new, unseen data</a:t>
            </a:r>
            <a:endParaRPr b="0"/>
          </a:p>
          <a:p>
            <a:pPr marL="457200" indent="-457200">
              <a:buClr>
                <a:srgbClr val="000000"/>
              </a:buClr>
              <a:buSzPct val="100000"/>
              <a:buAutoNum type="arabicPeriod" startAt="5"/>
              <a:defRPr b="1" sz="2000">
                <a:latin typeface="Times New Roman"/>
                <a:ea typeface="Times New Roman"/>
                <a:cs typeface="Times New Roman"/>
                <a:sym typeface="Times New Roman"/>
              </a:defRPr>
            </a:pPr>
            <a:r>
              <a:t>Making Predictions</a:t>
            </a:r>
            <a:br/>
            <a:r>
              <a:rPr b="0"/>
              <a:t>Finally, we used the trained model to predict whether new images contained fire or not. We also visualized some results to see how well the model was doing in real-world scenarios</a:t>
            </a:r>
            <a:r>
              <a:rPr b="0" sz="1800">
                <a:latin typeface="+mn-lt"/>
                <a:ea typeface="+mn-ea"/>
                <a:cs typeface="+mn-cs"/>
                <a:sym typeface="Arial"/>
              </a:rPr>
              <a:t>.</a:t>
            </a:r>
            <a:endParaRPr b="0" sz="1800">
              <a:latin typeface="+mn-lt"/>
              <a:ea typeface="+mn-ea"/>
              <a:cs typeface="+mn-cs"/>
              <a:sym typeface="Arial"/>
            </a:endParaRPr>
          </a:p>
          <a:p>
            <a:pPr/>
            <a:r>
              <a:t>                            </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 name="TextBox 2"/>
          <p:cNvSpPr txBox="1"/>
          <p:nvPr/>
        </p:nvSpPr>
        <p:spPr>
          <a:xfrm>
            <a:off x="300824" y="1054411"/>
            <a:ext cx="6011186" cy="3752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213163"/>
                </a:solidFill>
              </a:defRPr>
            </a:lvl1pPr>
          </a:lstStyle>
          <a:p>
            <a:pPr/>
            <a:r>
              <a:t>Problem Statement:  </a:t>
            </a:r>
          </a:p>
        </p:txBody>
      </p:sp>
      <p:sp>
        <p:nvSpPr>
          <p:cNvPr id="84" name="TextBox 1"/>
          <p:cNvSpPr txBox="1"/>
          <p:nvPr/>
        </p:nvSpPr>
        <p:spPr>
          <a:xfrm>
            <a:off x="300823" y="1651517"/>
            <a:ext cx="11438021" cy="515126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latin typeface="Times New Roman"/>
                <a:ea typeface="Times New Roman"/>
                <a:cs typeface="Times New Roman"/>
                <a:sym typeface="Times New Roman"/>
              </a:defRPr>
            </a:pPr>
            <a:r>
              <a:t>Causes of Forest fire :</a:t>
            </a:r>
          </a:p>
          <a:p>
            <a:pPr marL="342900" indent="-342900">
              <a:buClr>
                <a:srgbClr val="000000"/>
              </a:buClr>
              <a:buSzPct val="100000"/>
              <a:buFont typeface="Arial"/>
              <a:buChar char="•"/>
              <a:defRPr>
                <a:latin typeface="Times New Roman"/>
                <a:ea typeface="Times New Roman"/>
                <a:cs typeface="Times New Roman"/>
                <a:sym typeface="Times New Roman"/>
              </a:defRPr>
            </a:pPr>
            <a:r>
              <a:t>Rapid Spread,Environmental Destruction</a:t>
            </a:r>
            <a:r>
              <a:rPr b="1"/>
              <a:t>,</a:t>
            </a:r>
            <a:r>
              <a:t> Human and Economic Loss, Limitations of Traditional Methods, Need for Intelligent Solutions,Consumption of real word Time </a:t>
            </a:r>
          </a:p>
          <a:p>
            <a:pPr marL="342900" indent="-342900">
              <a:buClr>
                <a:srgbClr val="000000"/>
              </a:buClr>
              <a:buSzPct val="100000"/>
              <a:buFont typeface="Arial"/>
              <a:buChar char="•"/>
              <a:defRPr>
                <a:latin typeface="Times New Roman"/>
                <a:ea typeface="Times New Roman"/>
                <a:cs typeface="Times New Roman"/>
                <a:sym typeface="Times New Roman"/>
              </a:defRPr>
            </a:pPr>
            <a:r>
              <a:t>Forest fires are becoming more frequent and intense due to climate change and human activities. They can destroy thousands of acres of land, harm wildlife, pollute the air, and put nearby communities in danger. The biggest challenge is spotting fires early—before they grow out of control. Traditional methods like satellite images or manual watchtowers often detect fires too late, especially in remote or dense forest areas.</a:t>
            </a:r>
          </a:p>
          <a:p>
            <a:pPr>
              <a:defRPr b="1">
                <a:latin typeface="Times New Roman"/>
                <a:ea typeface="Times New Roman"/>
                <a:cs typeface="Times New Roman"/>
                <a:sym typeface="Times New Roman"/>
              </a:defRPr>
            </a:pPr>
            <a:r>
              <a:t>Solution:</a:t>
            </a:r>
          </a:p>
          <a:p>
            <a:pPr marL="342900" indent="-342900">
              <a:buClr>
                <a:srgbClr val="000000"/>
              </a:buClr>
              <a:buSzPct val="100000"/>
              <a:buChar char="➢"/>
              <a:defRPr>
                <a:latin typeface="Times New Roman"/>
                <a:ea typeface="Times New Roman"/>
                <a:cs typeface="Times New Roman"/>
                <a:sym typeface="Times New Roman"/>
              </a:defRPr>
            </a:pPr>
            <a:r>
              <a:t>To solve this, we need a smarter, faster, and more reliable way to detect fires as soon as they start. </a:t>
            </a:r>
            <a:r>
              <a:rPr b="1"/>
              <a:t>Deep learning</a:t>
            </a:r>
            <a:r>
              <a:t>—a type of artificial intelligence that mimics the way our brain learns—offers a powerful solution. By training deep learning models on thousands of images showing both fire and non-fire scenes, we can build systems that “see” and recognize signs of fire instantly.</a:t>
            </a:r>
          </a:p>
          <a:p>
            <a:pPr marL="342900" indent="-342900">
              <a:buClr>
                <a:srgbClr val="000000"/>
              </a:buClr>
              <a:buSzPct val="100000"/>
              <a:buChar char="➢"/>
              <a:defRPr>
                <a:latin typeface="Times New Roman"/>
                <a:ea typeface="Times New Roman"/>
                <a:cs typeface="Times New Roman"/>
                <a:sym typeface="Times New Roman"/>
              </a:defRPr>
            </a:pPr>
            <a:r>
              <a:t>These models, especially Convolutional Neural Networks (CNNs), can detect fire from camera feeds, drone footage, or even satellite images in real time with high accuracy. This means faster alerts, quicker responses from firefighters, and less damage to nature and human life.</a:t>
            </a:r>
          </a:p>
          <a:p>
            <a:pPr marL="342900" indent="-342900">
              <a:buClr>
                <a:srgbClr val="000000"/>
              </a:buClr>
              <a:buSzPct val="100000"/>
              <a:buChar char="➢"/>
              <a:defRPr>
                <a:latin typeface="Times New Roman"/>
                <a:ea typeface="Times New Roman"/>
                <a:cs typeface="Times New Roman"/>
                <a:sym typeface="Times New Roman"/>
              </a:defRPr>
            </a:pPr>
            <a:r>
              <a:t>With the help of deep learning, we can move from reactive to proactive—creating a future where forests are better protected, and communities are safer.</a:t>
            </a:r>
          </a:p>
          <a:p>
            <a:pP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6" name="TextBox 2"/>
          <p:cNvSpPr txBox="1"/>
          <p:nvPr/>
        </p:nvSpPr>
        <p:spPr>
          <a:xfrm>
            <a:off x="300824" y="1054411"/>
            <a:ext cx="6011186" cy="3752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213163"/>
                </a:solidFill>
              </a:defRPr>
            </a:lvl1pPr>
          </a:lstStyle>
          <a:p>
            <a:pPr/>
            <a:r>
              <a:t>Solution:  </a:t>
            </a:r>
          </a:p>
        </p:txBody>
      </p:sp>
      <p:sp>
        <p:nvSpPr>
          <p:cNvPr id="87" name="TextBox 3"/>
          <p:cNvSpPr txBox="1"/>
          <p:nvPr/>
        </p:nvSpPr>
        <p:spPr>
          <a:xfrm>
            <a:off x="300824" y="1604865"/>
            <a:ext cx="10952827" cy="37112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buClr>
                <a:srgbClr val="000000"/>
              </a:buClr>
              <a:buSzPct val="100000"/>
              <a:buChar char="➢"/>
              <a:defRPr sz="2300">
                <a:latin typeface="Times New Roman"/>
                <a:ea typeface="Times New Roman"/>
                <a:cs typeface="Times New Roman"/>
                <a:sym typeface="Times New Roman"/>
              </a:defRPr>
            </a:pPr>
            <a:r>
              <a:t>We used Deep learning for this problem statement where we got the dataset from the kaggle website </a:t>
            </a:r>
          </a:p>
          <a:p>
            <a:pPr marL="342900" indent="-342900">
              <a:buClr>
                <a:srgbClr val="000000"/>
              </a:buClr>
              <a:buSzPct val="100000"/>
              <a:buChar char="➢"/>
              <a:defRPr sz="2300">
                <a:latin typeface="Times New Roman"/>
                <a:ea typeface="Times New Roman"/>
                <a:cs typeface="Times New Roman"/>
                <a:sym typeface="Times New Roman"/>
              </a:defRPr>
            </a:pPr>
            <a:r>
              <a:t>By Using Deep learning we Made two classes one which is</a:t>
            </a:r>
            <a:r>
              <a:rPr b="1"/>
              <a:t> Fire </a:t>
            </a:r>
            <a:r>
              <a:t>&amp; </a:t>
            </a:r>
            <a:r>
              <a:rPr b="1"/>
              <a:t>No-Fire</a:t>
            </a:r>
            <a:r>
              <a:t> With the help of CNN, Conv2D, MaxPooling2D</a:t>
            </a:r>
          </a:p>
          <a:p>
            <a:pPr marL="342900" indent="-342900">
              <a:buClr>
                <a:srgbClr val="000000"/>
              </a:buClr>
              <a:buSzPct val="100000"/>
              <a:buChar char="➢"/>
              <a:defRPr sz="2300">
                <a:latin typeface="Times New Roman"/>
                <a:ea typeface="Times New Roman"/>
                <a:cs typeface="Times New Roman"/>
                <a:sym typeface="Times New Roman"/>
              </a:defRPr>
            </a:pPr>
            <a:r>
              <a:t>Improve accuracy over time using more data and feedback, minimizing false detections and unnecessary panic.</a:t>
            </a:r>
          </a:p>
          <a:p>
            <a:pPr marL="342900" indent="-342900">
              <a:buClr>
                <a:srgbClr val="000000"/>
              </a:buClr>
              <a:buSzPct val="100000"/>
              <a:buChar char="➢"/>
              <a:defRPr sz="2300">
                <a:latin typeface="Times New Roman"/>
                <a:ea typeface="Times New Roman"/>
                <a:cs typeface="Times New Roman"/>
                <a:sym typeface="Times New Roman"/>
              </a:defRPr>
            </a:pPr>
            <a:r>
              <a:t>I Got around at 81% accuracy in Test data set with 12 epochs </a:t>
            </a:r>
          </a:p>
          <a:p>
            <a:pPr marL="342900" indent="-342900">
              <a:buClr>
                <a:srgbClr val="000000"/>
              </a:buClr>
              <a:buSzPct val="100000"/>
              <a:buChar char="➢"/>
              <a:defRPr sz="2300">
                <a:latin typeface="Times New Roman"/>
                <a:ea typeface="Times New Roman"/>
                <a:cs typeface="Times New Roman"/>
                <a:sym typeface="Times New Roman"/>
              </a:defRPr>
            </a:pPr>
            <a:r>
              <a:t>It was able to generalize to all regions and images </a:t>
            </a:r>
          </a:p>
          <a:p>
            <a:pPr marL="342900" indent="-342900">
              <a:buClr>
                <a:srgbClr val="000000"/>
              </a:buClr>
              <a:buSzPct val="100000"/>
              <a:buChar char="➢"/>
              <a:defRPr sz="2300">
                <a:latin typeface="Times New Roman"/>
                <a:ea typeface="Times New Roman"/>
                <a:cs typeface="Times New Roman"/>
                <a:sym typeface="Times New Roman"/>
              </a:defRPr>
            </a:pPr>
            <a:r>
              <a:t>Once deployed this model can be used for real time and real time application</a:t>
            </a:r>
          </a:p>
          <a:p>
            <a:pPr marL="342900" indent="-342900">
              <a:buClr>
                <a:srgbClr val="000000"/>
              </a:buClr>
              <a:buSzPct val="100000"/>
              <a:buChar char="➢"/>
              <a:defRPr sz="2300">
                <a:latin typeface="Times New Roman"/>
                <a:ea typeface="Times New Roman"/>
                <a:cs typeface="Times New Roman"/>
                <a:sym typeface="Times New Roman"/>
              </a:defRPr>
            </a:pPr>
            <a:r>
              <a:t>Github Repo link: </a:t>
            </a:r>
            <a:r>
              <a:rPr u="sng">
                <a:solidFill>
                  <a:schemeClr val="accent5"/>
                </a:solidFill>
                <a:uFill>
                  <a:solidFill>
                    <a:schemeClr val="accent5"/>
                  </a:solidFill>
                </a:uFill>
                <a:hlinkClick r:id="rId2" invalidUrl="" action="" tgtFrame="" tooltip="" history="1" highlightClick="0" endSnd="0"/>
              </a:rPr>
              <a:t>https://github.com/Paartha23/Forest-fire-detection</a:t>
            </a:r>
            <a:endParaRPr u="sng">
              <a:solidFill>
                <a:srgbClr val="002060"/>
              </a:solidFill>
            </a:endParaRPr>
          </a:p>
          <a:p>
            <a:pPr>
              <a:defRPr sz="2300">
                <a:solidFill>
                  <a:srgbClr val="002060"/>
                </a:solidFill>
                <a:latin typeface="Times New Roman"/>
                <a:ea typeface="Times New Roman"/>
                <a:cs typeface="Times New Roman"/>
                <a:sym typeface="Times New Roman"/>
              </a:defRPr>
            </a:pPr>
            <a:r>
              <a:t>      </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 name="TextBox 2"/>
          <p:cNvSpPr txBox="1"/>
          <p:nvPr/>
        </p:nvSpPr>
        <p:spPr>
          <a:xfrm>
            <a:off x="300824" y="1054411"/>
            <a:ext cx="6011186" cy="3752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213163"/>
                </a:solidFill>
              </a:defRPr>
            </a:lvl1pPr>
          </a:lstStyle>
          <a:p>
            <a:pPr/>
            <a:r>
              <a:t>Screenshot of Output:  </a:t>
            </a:r>
          </a:p>
        </p:txBody>
      </p:sp>
      <p:pic>
        <p:nvPicPr>
          <p:cNvPr id="90" name="Picture 3" descr="Picture 3"/>
          <p:cNvPicPr>
            <a:picLocks noChangeAspect="1"/>
          </p:cNvPicPr>
          <p:nvPr/>
        </p:nvPicPr>
        <p:blipFill>
          <a:blip r:embed="rId2">
            <a:extLst/>
          </a:blip>
          <a:stretch>
            <a:fillRect/>
          </a:stretch>
        </p:blipFill>
        <p:spPr>
          <a:xfrm>
            <a:off x="0" y="1740572"/>
            <a:ext cx="12192000" cy="4571173"/>
          </a:xfrm>
          <a:prstGeom prst="rect">
            <a:avLst/>
          </a:prstGeom>
          <a:ln w="12700">
            <a:miter lim="400000"/>
          </a:ln>
        </p:spPr>
      </p:pic>
      <p:sp>
        <p:nvSpPr>
          <p:cNvPr id="91" name="TextBox 1"/>
          <p:cNvSpPr txBox="1"/>
          <p:nvPr/>
        </p:nvSpPr>
        <p:spPr>
          <a:xfrm>
            <a:off x="3443954" y="6466113"/>
            <a:ext cx="4434369" cy="34843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marL="285750" indent="-285750" algn="ctr">
              <a:buClr>
                <a:srgbClr val="000000"/>
              </a:buClr>
              <a:buSzPct val="100000"/>
              <a:buFont typeface="Times New Roman"/>
              <a:buChar char="‣"/>
              <a:defRPr>
                <a:latin typeface="Times New Roman"/>
                <a:ea typeface="Times New Roman"/>
                <a:cs typeface="Times New Roman"/>
                <a:sym typeface="Times New Roman"/>
              </a:defRPr>
            </a:lvl1pPr>
          </a:lstStyle>
          <a:p>
            <a:pPr/>
            <a:r>
              <a:t>Importing Json File &amp; Dataset From kaggle </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 name="TextBox 2"/>
          <p:cNvSpPr txBox="1"/>
          <p:nvPr/>
        </p:nvSpPr>
        <p:spPr>
          <a:xfrm>
            <a:off x="300824" y="1054411"/>
            <a:ext cx="6011186" cy="3752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213163"/>
                </a:solidFill>
              </a:defRPr>
            </a:lvl1pPr>
          </a:lstStyle>
          <a:p>
            <a:pPr/>
            <a:r>
              <a:t>Screenshot of Output:  </a:t>
            </a:r>
          </a:p>
        </p:txBody>
      </p:sp>
      <p:pic>
        <p:nvPicPr>
          <p:cNvPr id="94" name="Picture 8" descr="Picture 8"/>
          <p:cNvPicPr>
            <a:picLocks noChangeAspect="1"/>
          </p:cNvPicPr>
          <p:nvPr/>
        </p:nvPicPr>
        <p:blipFill>
          <a:blip r:embed="rId2">
            <a:extLst/>
          </a:blip>
          <a:stretch>
            <a:fillRect/>
          </a:stretch>
        </p:blipFill>
        <p:spPr>
          <a:xfrm>
            <a:off x="65314" y="1817365"/>
            <a:ext cx="12192001" cy="4119010"/>
          </a:xfrm>
          <a:prstGeom prst="rect">
            <a:avLst/>
          </a:prstGeom>
          <a:ln w="12700">
            <a:miter lim="400000"/>
          </a:ln>
        </p:spPr>
      </p:pic>
      <p:sp>
        <p:nvSpPr>
          <p:cNvPr id="95" name="TextBox 1"/>
          <p:cNvSpPr txBox="1"/>
          <p:nvPr/>
        </p:nvSpPr>
        <p:spPr>
          <a:xfrm>
            <a:off x="3498046" y="6251509"/>
            <a:ext cx="4555205" cy="3484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marL="285750" indent="-285750" algn="ctr">
              <a:buClr>
                <a:srgbClr val="000000"/>
              </a:buClr>
              <a:buSzPct val="100000"/>
              <a:buFont typeface="Times New Roman"/>
              <a:buChar char="‣"/>
              <a:defRPr>
                <a:latin typeface="Times New Roman"/>
                <a:ea typeface="Times New Roman"/>
                <a:cs typeface="Times New Roman"/>
                <a:sym typeface="Times New Roman"/>
              </a:defRPr>
            </a:lvl1pPr>
          </a:lstStyle>
          <a:p>
            <a:pPr/>
            <a:r>
              <a:t>Importing Tools &amp; Setting up storage</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TextBox 2"/>
          <p:cNvSpPr txBox="1"/>
          <p:nvPr/>
        </p:nvSpPr>
        <p:spPr>
          <a:xfrm>
            <a:off x="300824" y="1054411"/>
            <a:ext cx="6011186" cy="3752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213163"/>
                </a:solidFill>
              </a:defRPr>
            </a:lvl1pPr>
          </a:lstStyle>
          <a:p>
            <a:pPr/>
            <a:r>
              <a:t>Screenshot of Output:  </a:t>
            </a:r>
          </a:p>
        </p:txBody>
      </p:sp>
      <p:pic>
        <p:nvPicPr>
          <p:cNvPr id="98" name="Picture 3" descr="Picture 3"/>
          <p:cNvPicPr>
            <a:picLocks noChangeAspect="1"/>
          </p:cNvPicPr>
          <p:nvPr/>
        </p:nvPicPr>
        <p:blipFill>
          <a:blip r:embed="rId2">
            <a:extLst/>
          </a:blip>
          <a:stretch>
            <a:fillRect/>
          </a:stretch>
        </p:blipFill>
        <p:spPr>
          <a:xfrm>
            <a:off x="0" y="1554782"/>
            <a:ext cx="12192000" cy="4718819"/>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 name="TextBox 2"/>
          <p:cNvSpPr txBox="1"/>
          <p:nvPr/>
        </p:nvSpPr>
        <p:spPr>
          <a:xfrm>
            <a:off x="300824" y="1054411"/>
            <a:ext cx="6011186" cy="3752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213163"/>
                </a:solidFill>
              </a:defRPr>
            </a:lvl1pPr>
          </a:lstStyle>
          <a:p>
            <a:pPr/>
            <a:r>
              <a:t>Screenshot of Output:  </a:t>
            </a:r>
          </a:p>
        </p:txBody>
      </p:sp>
      <p:sp>
        <p:nvSpPr>
          <p:cNvPr id="101" name="TextBox 7"/>
          <p:cNvSpPr txBox="1"/>
          <p:nvPr/>
        </p:nvSpPr>
        <p:spPr>
          <a:xfrm>
            <a:off x="3040847" y="6251509"/>
            <a:ext cx="4769810" cy="3484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marL="285750" indent="-285750" algn="ctr">
              <a:buClr>
                <a:srgbClr val="000000"/>
              </a:buClr>
              <a:buSzPct val="100000"/>
              <a:buFont typeface="Times New Roman"/>
              <a:buChar char="‣"/>
              <a:defRPr>
                <a:latin typeface="Times New Roman"/>
                <a:ea typeface="Times New Roman"/>
                <a:cs typeface="Times New Roman"/>
                <a:sym typeface="Times New Roman"/>
              </a:defRPr>
            </a:lvl1pPr>
          </a:lstStyle>
          <a:p>
            <a:pPr/>
            <a:r>
              <a:t>Model accuracy &amp; Model Loss</a:t>
            </a:r>
          </a:p>
        </p:txBody>
      </p:sp>
      <p:grpSp>
        <p:nvGrpSpPr>
          <p:cNvPr id="104" name="Picture 11"/>
          <p:cNvGrpSpPr/>
          <p:nvPr/>
        </p:nvGrpSpPr>
        <p:grpSpPr>
          <a:xfrm>
            <a:off x="-74645" y="1558230"/>
            <a:ext cx="5740455" cy="4465678"/>
            <a:chOff x="0" y="0"/>
            <a:chExt cx="5740453" cy="4465677"/>
          </a:xfrm>
        </p:grpSpPr>
        <p:sp>
          <p:nvSpPr>
            <p:cNvPr id="102" name="Rectangle"/>
            <p:cNvSpPr/>
            <p:nvPr/>
          </p:nvSpPr>
          <p:spPr>
            <a:xfrm>
              <a:off x="0" y="0"/>
              <a:ext cx="5740454" cy="4465678"/>
            </a:xfrm>
            <a:prstGeom prst="rect">
              <a:avLst/>
            </a:prstGeom>
            <a:solidFill>
              <a:srgbClr val="0070C0"/>
            </a:solidFill>
            <a:ln w="12700" cap="flat">
              <a:noFill/>
              <a:miter lim="400000"/>
            </a:ln>
            <a:effectLst/>
          </p:spPr>
          <p:txBody>
            <a:bodyPr wrap="square" lIns="45719" tIns="45719" rIns="45719" bIns="45719" numCol="1" anchor="ctr">
              <a:noAutofit/>
            </a:bodyPr>
            <a:lstStyle/>
            <a:p>
              <a:pPr/>
            </a:p>
          </p:txBody>
        </p:sp>
        <p:pic>
          <p:nvPicPr>
            <p:cNvPr id="103" name="image10.png" descr="image10.png"/>
            <p:cNvPicPr>
              <a:picLocks noChangeAspect="1"/>
            </p:cNvPicPr>
            <p:nvPr/>
          </p:nvPicPr>
          <p:blipFill>
            <a:blip r:embed="rId2">
              <a:extLst/>
            </a:blip>
            <a:stretch>
              <a:fillRect/>
            </a:stretch>
          </p:blipFill>
          <p:spPr>
            <a:xfrm>
              <a:off x="0" y="0"/>
              <a:ext cx="5740454" cy="4465678"/>
            </a:xfrm>
            <a:prstGeom prst="rect">
              <a:avLst/>
            </a:prstGeom>
            <a:ln w="12700" cap="flat">
              <a:noFill/>
              <a:miter lim="400000"/>
            </a:ln>
            <a:effectLst/>
          </p:spPr>
        </p:pic>
      </p:grpSp>
      <p:pic>
        <p:nvPicPr>
          <p:cNvPr id="105" name="Picture 13" descr="Picture 13"/>
          <p:cNvPicPr>
            <a:picLocks noChangeAspect="1"/>
          </p:cNvPicPr>
          <p:nvPr/>
        </p:nvPicPr>
        <p:blipFill>
          <a:blip r:embed="rId3">
            <a:extLst/>
          </a:blip>
          <a:stretch>
            <a:fillRect/>
          </a:stretch>
        </p:blipFill>
        <p:spPr>
          <a:xfrm>
            <a:off x="6096000" y="1558230"/>
            <a:ext cx="5652857" cy="4465678"/>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 name="TextBox 2"/>
          <p:cNvSpPr txBox="1"/>
          <p:nvPr/>
        </p:nvSpPr>
        <p:spPr>
          <a:xfrm>
            <a:off x="300824" y="1054411"/>
            <a:ext cx="6011186" cy="3752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213163"/>
                </a:solidFill>
              </a:defRPr>
            </a:lvl1pPr>
          </a:lstStyle>
          <a:p>
            <a:pPr/>
            <a:r>
              <a:t>Screenshot of Output:  </a:t>
            </a:r>
          </a:p>
        </p:txBody>
      </p:sp>
      <p:pic>
        <p:nvPicPr>
          <p:cNvPr id="108" name="Picture 3" descr="Picture 3"/>
          <p:cNvPicPr>
            <a:picLocks noChangeAspect="1"/>
          </p:cNvPicPr>
          <p:nvPr/>
        </p:nvPicPr>
        <p:blipFill>
          <a:blip r:embed="rId2">
            <a:extLst/>
          </a:blip>
          <a:stretch>
            <a:fillRect/>
          </a:stretch>
        </p:blipFill>
        <p:spPr>
          <a:xfrm>
            <a:off x="572345" y="1416757"/>
            <a:ext cx="10269827" cy="2674812"/>
          </a:xfrm>
          <a:prstGeom prst="rect">
            <a:avLst/>
          </a:prstGeom>
          <a:ln w="12700">
            <a:miter lim="400000"/>
          </a:ln>
        </p:spPr>
      </p:pic>
      <p:pic>
        <p:nvPicPr>
          <p:cNvPr id="109" name="Picture 5" descr="Picture 5"/>
          <p:cNvPicPr>
            <a:picLocks noChangeAspect="1"/>
          </p:cNvPicPr>
          <p:nvPr/>
        </p:nvPicPr>
        <p:blipFill>
          <a:blip r:embed="rId3">
            <a:extLst/>
          </a:blip>
          <a:stretch>
            <a:fillRect/>
          </a:stretch>
        </p:blipFill>
        <p:spPr>
          <a:xfrm>
            <a:off x="760605" y="3854849"/>
            <a:ext cx="8243438" cy="2678106"/>
          </a:xfrm>
          <a:prstGeom prst="rect">
            <a:avLst/>
          </a:prstGeom>
          <a:ln w="12700">
            <a:miter lim="400000"/>
          </a:ln>
        </p:spPr>
      </p:pic>
      <p:sp>
        <p:nvSpPr>
          <p:cNvPr id="110" name="TextBox 7"/>
          <p:cNvSpPr txBox="1"/>
          <p:nvPr/>
        </p:nvSpPr>
        <p:spPr>
          <a:xfrm>
            <a:off x="9357671" y="4609322"/>
            <a:ext cx="2586446" cy="6151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marL="285750" indent="-285750">
              <a:buClr>
                <a:srgbClr val="000000"/>
              </a:buClr>
              <a:buSzPct val="100000"/>
              <a:buFont typeface="Times New Roman"/>
              <a:buChar char="‣"/>
              <a:defRPr>
                <a:latin typeface="Times New Roman"/>
                <a:ea typeface="Times New Roman"/>
                <a:cs typeface="Times New Roman"/>
                <a:sym typeface="Times New Roman"/>
              </a:defRPr>
            </a:lvl1pPr>
          </a:lstStyle>
          <a:p>
            <a:pPr/>
            <a:r>
              <a:t>Trained Data set for Fire &amp; No-Fire</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TextBox 2"/>
          <p:cNvSpPr txBox="1"/>
          <p:nvPr/>
        </p:nvSpPr>
        <p:spPr>
          <a:xfrm>
            <a:off x="39093" y="755832"/>
            <a:ext cx="2994290" cy="3752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213163"/>
                </a:solidFill>
              </a:defRPr>
            </a:lvl1pPr>
          </a:lstStyle>
          <a:p>
            <a:pPr/>
            <a:r>
              <a:t>Screenshot of Output:                     </a:t>
            </a:r>
          </a:p>
        </p:txBody>
      </p:sp>
      <p:pic>
        <p:nvPicPr>
          <p:cNvPr id="113" name="Picture 4" descr="Picture 4"/>
          <p:cNvPicPr>
            <a:picLocks noChangeAspect="1"/>
          </p:cNvPicPr>
          <p:nvPr/>
        </p:nvPicPr>
        <p:blipFill>
          <a:blip r:embed="rId2">
            <a:extLst/>
          </a:blip>
          <a:stretch>
            <a:fillRect/>
          </a:stretch>
        </p:blipFill>
        <p:spPr>
          <a:xfrm>
            <a:off x="0" y="1367934"/>
            <a:ext cx="12192000" cy="3651935"/>
          </a:xfrm>
          <a:prstGeom prst="rect">
            <a:avLst/>
          </a:prstGeom>
          <a:ln w="12700">
            <a:miter lim="400000"/>
          </a:ln>
        </p:spPr>
      </p:pic>
      <p:pic>
        <p:nvPicPr>
          <p:cNvPr id="114" name="Picture 5" descr="Picture 5"/>
          <p:cNvPicPr>
            <a:picLocks noChangeAspect="1"/>
          </p:cNvPicPr>
          <p:nvPr/>
        </p:nvPicPr>
        <p:blipFill>
          <a:blip r:embed="rId3">
            <a:extLst/>
          </a:blip>
          <a:stretch>
            <a:fillRect/>
          </a:stretch>
        </p:blipFill>
        <p:spPr>
          <a:xfrm>
            <a:off x="0" y="5019869"/>
            <a:ext cx="12192000" cy="1838132"/>
          </a:xfrm>
          <a:prstGeom prst="rect">
            <a:avLst/>
          </a:prstGeom>
          <a:ln w="12700">
            <a:miter lim="400000"/>
          </a:ln>
        </p:spPr>
      </p:pic>
      <p:sp>
        <p:nvSpPr>
          <p:cNvPr id="115" name="TextBox 1"/>
          <p:cNvSpPr txBox="1"/>
          <p:nvPr/>
        </p:nvSpPr>
        <p:spPr>
          <a:xfrm>
            <a:off x="3432731" y="849085"/>
            <a:ext cx="5376300" cy="36059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marL="342899" indent="-342899" algn="ctr">
              <a:buClr>
                <a:srgbClr val="000000"/>
              </a:buClr>
              <a:buSzPct val="100000"/>
              <a:buFont typeface="Times New Roman"/>
              <a:buChar char="‣"/>
              <a:defRPr sz="1900">
                <a:latin typeface="Times New Roman"/>
                <a:ea typeface="Times New Roman"/>
                <a:cs typeface="Times New Roman"/>
                <a:sym typeface="Times New Roman"/>
              </a:defRPr>
            </a:lvl1pPr>
          </a:lstStyle>
          <a:p>
            <a:pPr/>
            <a:r>
              <a:t>Training test Data Epoch (Accuracy=81%)</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TextBox 2"/>
          <p:cNvSpPr txBox="1"/>
          <p:nvPr/>
        </p:nvSpPr>
        <p:spPr>
          <a:xfrm>
            <a:off x="300824" y="1054411"/>
            <a:ext cx="6011186" cy="37523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213163"/>
                </a:solidFill>
              </a:defRPr>
            </a:lvl1pPr>
          </a:lstStyle>
          <a:p>
            <a:pPr/>
            <a:r>
              <a:t>Screenshot of Output:  </a:t>
            </a:r>
          </a:p>
        </p:txBody>
      </p:sp>
      <p:pic>
        <p:nvPicPr>
          <p:cNvPr id="118" name="Picture 3" descr="Picture 3"/>
          <p:cNvPicPr>
            <a:picLocks noChangeAspect="1"/>
          </p:cNvPicPr>
          <p:nvPr/>
        </p:nvPicPr>
        <p:blipFill>
          <a:blip r:embed="rId2">
            <a:extLst/>
          </a:blip>
          <a:stretch>
            <a:fillRect/>
          </a:stretch>
        </p:blipFill>
        <p:spPr>
          <a:xfrm>
            <a:off x="0" y="1624823"/>
            <a:ext cx="12192000" cy="4178765"/>
          </a:xfrm>
          <a:prstGeom prst="rect">
            <a:avLst/>
          </a:prstGeom>
          <a:ln w="12700">
            <a:miter lim="400000"/>
          </a:ln>
        </p:spPr>
      </p:pic>
      <p:sp>
        <p:nvSpPr>
          <p:cNvPr id="119" name="TextBox 1"/>
          <p:cNvSpPr txBox="1"/>
          <p:nvPr/>
        </p:nvSpPr>
        <p:spPr>
          <a:xfrm>
            <a:off x="3143483" y="6064898"/>
            <a:ext cx="5880153" cy="3506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marL="342900" indent="-342900" algn="ctr">
              <a:buClr>
                <a:srgbClr val="000000"/>
              </a:buClr>
              <a:buSzPct val="100000"/>
              <a:buFont typeface="Times New Roman"/>
              <a:buChar char="‣"/>
            </a:lvl1pPr>
          </a:lstStyle>
          <a:p>
            <a:pPr/>
            <a:r>
              <a:t>Final prediction of Classes,images Fire &amp; No-Fire</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TextBox 2"/>
          <p:cNvSpPr txBox="1"/>
          <p:nvPr/>
        </p:nvSpPr>
        <p:spPr>
          <a:xfrm>
            <a:off x="194807" y="988151"/>
            <a:ext cx="6011186" cy="37523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000">
                <a:solidFill>
                  <a:srgbClr val="213163"/>
                </a:solidFill>
              </a:defRPr>
            </a:pPr>
            <a:r>
              <a:t>Conclusion:</a:t>
            </a:r>
            <a:r>
              <a:rPr sz="1800"/>
              <a:t>  </a:t>
            </a:r>
          </a:p>
        </p:txBody>
      </p:sp>
      <p:sp>
        <p:nvSpPr>
          <p:cNvPr id="122" name="TextBox 4"/>
          <p:cNvSpPr txBox="1"/>
          <p:nvPr/>
        </p:nvSpPr>
        <p:spPr>
          <a:xfrm>
            <a:off x="194806" y="2090056"/>
            <a:ext cx="10769597" cy="315459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900">
                <a:latin typeface="Times New Roman"/>
                <a:ea typeface="Times New Roman"/>
                <a:cs typeface="Times New Roman"/>
                <a:sym typeface="Times New Roman"/>
              </a:defRPr>
            </a:lvl1pPr>
          </a:lstStyle>
          <a:p>
            <a:pPr/>
            <a:r>
              <a:t>I took the forest fire detection dataset from Kaggle and implemented the model on Google Colab, utilizing its free and accessible computing resources. The model was trained to classify images into two classes: fire and no fire. After running 12 epochs, the model achieved a test set accuracy of around 81%, demonstrating its effectiveness in detecting forest fires from visual data. This project highlights the importance of using deep learning techniques to support early detection of forest fires, which can help minimize environmental damage and improve response times for firefighting efforts. For future improvements, the model can be enhanced by incorporating real-time video analysis from drones or surveillance cameras deployed in forest areas. Additionally, expanding the dataset to cover different types of fire scenarios, weather conditions, and forest terrains can improve model robustness. Integrating the system with IoT devices and alert mechanisms would also enable faster and more automated forest fire monitoring, helping to protect natural resources and communities.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Session 01 Design Thinking &amp; Critical Thinking">
  <a:themeElements>
    <a:clrScheme name="Session 01 Design Thinking &amp; Critical Thinking">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ession 01 Design Thinking &amp; Critical Thinking">
      <a:majorFont>
        <a:latin typeface="Helvetica"/>
        <a:ea typeface="Helvetica"/>
        <a:cs typeface="Helvetica"/>
      </a:majorFont>
      <a:minorFont>
        <a:latin typeface="Arial"/>
        <a:ea typeface="Arial"/>
        <a:cs typeface="Arial"/>
      </a:minorFont>
    </a:fontScheme>
    <a:fmtScheme name="Session 01 Design Thinking &amp; Critical Think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Session 01 Design Thinking &amp; Critical Thinking">
  <a:themeElements>
    <a:clrScheme name="Session 01 Design Thinking &amp; Critical Thinking">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ession 01 Design Thinking &amp; Critical Thinking">
      <a:majorFont>
        <a:latin typeface="Helvetica"/>
        <a:ea typeface="Helvetica"/>
        <a:cs typeface="Helvetica"/>
      </a:majorFont>
      <a:minorFont>
        <a:latin typeface="Arial"/>
        <a:ea typeface="Arial"/>
        <a:cs typeface="Arial"/>
      </a:minorFont>
    </a:fontScheme>
    <a:fmtScheme name="Session 01 Design Thinking &amp; Critical Think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